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Red Hat Display Bold" charset="1" panose="02010803040201060303"/>
      <p:regular r:id="rId14"/>
    </p:embeddedFont>
    <p:embeddedFont>
      <p:font typeface="Red Hat Display" charset="1" panose="02010503040201060303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60629" y="-2095015"/>
            <a:ext cx="10960234" cy="7472887"/>
          </a:xfrm>
          <a:custGeom>
            <a:avLst/>
            <a:gdLst/>
            <a:ahLst/>
            <a:cxnLst/>
            <a:rect r="r" b="b" t="t" l="l"/>
            <a:pathLst>
              <a:path h="7472887" w="10960234">
                <a:moveTo>
                  <a:pt x="0" y="0"/>
                </a:moveTo>
                <a:lnTo>
                  <a:pt x="10960234" y="0"/>
                </a:lnTo>
                <a:lnTo>
                  <a:pt x="10960234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33448" y="2004589"/>
            <a:ext cx="6925852" cy="6014556"/>
          </a:xfrm>
          <a:custGeom>
            <a:avLst/>
            <a:gdLst/>
            <a:ahLst/>
            <a:cxnLst/>
            <a:rect r="r" b="b" t="t" l="l"/>
            <a:pathLst>
              <a:path h="6014556" w="6925852">
                <a:moveTo>
                  <a:pt x="0" y="0"/>
                </a:moveTo>
                <a:lnTo>
                  <a:pt x="6925852" y="0"/>
                </a:lnTo>
                <a:lnTo>
                  <a:pt x="6925852" y="6014557"/>
                </a:lnTo>
                <a:lnTo>
                  <a:pt x="0" y="60145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35325">
            <a:off x="-1336143" y="6923321"/>
            <a:ext cx="9442126" cy="8000056"/>
          </a:xfrm>
          <a:custGeom>
            <a:avLst/>
            <a:gdLst/>
            <a:ahLst/>
            <a:cxnLst/>
            <a:rect r="r" b="b" t="t" l="l"/>
            <a:pathLst>
              <a:path h="8000056" w="944212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26878">
            <a:off x="-216283" y="847655"/>
            <a:ext cx="4576141" cy="2579280"/>
          </a:xfrm>
          <a:custGeom>
            <a:avLst/>
            <a:gdLst/>
            <a:ahLst/>
            <a:cxnLst/>
            <a:rect r="r" b="b" t="t" l="l"/>
            <a:pathLst>
              <a:path h="2579280" w="4576141">
                <a:moveTo>
                  <a:pt x="0" y="0"/>
                </a:moveTo>
                <a:lnTo>
                  <a:pt x="4576141" y="0"/>
                </a:lnTo>
                <a:lnTo>
                  <a:pt x="4576141" y="2579280"/>
                </a:lnTo>
                <a:lnTo>
                  <a:pt x="0" y="25792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830696">
            <a:off x="12315724" y="8229600"/>
            <a:ext cx="2835471" cy="4114800"/>
          </a:xfrm>
          <a:custGeom>
            <a:avLst/>
            <a:gdLst/>
            <a:ahLst/>
            <a:cxnLst/>
            <a:rect r="r" b="b" t="t" l="l"/>
            <a:pathLst>
              <a:path h="4114800" w="2835471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71788" y="3908397"/>
            <a:ext cx="8751704" cy="2217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7074" b="true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Customer Behavior</a:t>
            </a:r>
          </a:p>
          <a:p>
            <a:pPr algn="l">
              <a:lnSpc>
                <a:spcPts val="8800"/>
              </a:lnSpc>
            </a:pPr>
            <a:r>
              <a:rPr lang="en-US" b="true" sz="7074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Data Analysis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45218" y="1386963"/>
            <a:ext cx="8994142" cy="728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5"/>
              </a:lnSpc>
            </a:pPr>
            <a:r>
              <a:rPr lang="en-US" b="true" sz="4332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Summary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658574" y="3560889"/>
            <a:ext cx="4061528" cy="4589884"/>
            <a:chOff x="0" y="0"/>
            <a:chExt cx="1069703" cy="120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69703" cy="1208858"/>
            </a:xfrm>
            <a:custGeom>
              <a:avLst/>
              <a:gdLst/>
              <a:ahLst/>
              <a:cxnLst/>
              <a:rect r="r" b="b" t="t" l="l"/>
              <a:pathLst>
                <a:path h="1208858" w="1069703">
                  <a:moveTo>
                    <a:pt x="57185" y="0"/>
                  </a:moveTo>
                  <a:lnTo>
                    <a:pt x="1012518" y="0"/>
                  </a:lnTo>
                  <a:cubicBezTo>
                    <a:pt x="1027684" y="0"/>
                    <a:pt x="1042230" y="6025"/>
                    <a:pt x="1052954" y="16749"/>
                  </a:cubicBezTo>
                  <a:cubicBezTo>
                    <a:pt x="1063678" y="27473"/>
                    <a:pt x="1069703" y="42018"/>
                    <a:pt x="1069703" y="57185"/>
                  </a:cubicBezTo>
                  <a:lnTo>
                    <a:pt x="1069703" y="1151674"/>
                  </a:lnTo>
                  <a:cubicBezTo>
                    <a:pt x="1069703" y="1183256"/>
                    <a:pt x="1044100" y="1208858"/>
                    <a:pt x="1012518" y="1208858"/>
                  </a:cubicBezTo>
                  <a:lnTo>
                    <a:pt x="57185" y="1208858"/>
                  </a:lnTo>
                  <a:cubicBezTo>
                    <a:pt x="42018" y="1208858"/>
                    <a:pt x="27473" y="1202834"/>
                    <a:pt x="16749" y="1192109"/>
                  </a:cubicBezTo>
                  <a:cubicBezTo>
                    <a:pt x="6025" y="1181385"/>
                    <a:pt x="0" y="1166840"/>
                    <a:pt x="0" y="1151674"/>
                  </a:cubicBezTo>
                  <a:lnTo>
                    <a:pt x="0" y="57185"/>
                  </a:lnTo>
                  <a:cubicBezTo>
                    <a:pt x="0" y="42018"/>
                    <a:pt x="6025" y="27473"/>
                    <a:pt x="16749" y="16749"/>
                  </a:cubicBezTo>
                  <a:cubicBezTo>
                    <a:pt x="27473" y="6025"/>
                    <a:pt x="42018" y="0"/>
                    <a:pt x="57185" y="0"/>
                  </a:cubicBezTo>
                  <a:close/>
                </a:path>
              </a:pathLst>
            </a:custGeom>
            <a:solidFill>
              <a:srgbClr val="ECE1D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069703" cy="125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2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958685" y="3467025"/>
            <a:ext cx="4061528" cy="4589884"/>
            <a:chOff x="0" y="0"/>
            <a:chExt cx="1069703" cy="12088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69703" cy="1208858"/>
            </a:xfrm>
            <a:custGeom>
              <a:avLst/>
              <a:gdLst/>
              <a:ahLst/>
              <a:cxnLst/>
              <a:rect r="r" b="b" t="t" l="l"/>
              <a:pathLst>
                <a:path h="1208858" w="1069703">
                  <a:moveTo>
                    <a:pt x="57185" y="0"/>
                  </a:moveTo>
                  <a:lnTo>
                    <a:pt x="1012518" y="0"/>
                  </a:lnTo>
                  <a:cubicBezTo>
                    <a:pt x="1027684" y="0"/>
                    <a:pt x="1042230" y="6025"/>
                    <a:pt x="1052954" y="16749"/>
                  </a:cubicBezTo>
                  <a:cubicBezTo>
                    <a:pt x="1063678" y="27473"/>
                    <a:pt x="1069703" y="42018"/>
                    <a:pt x="1069703" y="57185"/>
                  </a:cubicBezTo>
                  <a:lnTo>
                    <a:pt x="1069703" y="1151674"/>
                  </a:lnTo>
                  <a:cubicBezTo>
                    <a:pt x="1069703" y="1183256"/>
                    <a:pt x="1044100" y="1208858"/>
                    <a:pt x="1012518" y="1208858"/>
                  </a:cubicBezTo>
                  <a:lnTo>
                    <a:pt x="57185" y="1208858"/>
                  </a:lnTo>
                  <a:cubicBezTo>
                    <a:pt x="42018" y="1208858"/>
                    <a:pt x="27473" y="1202834"/>
                    <a:pt x="16749" y="1192109"/>
                  </a:cubicBezTo>
                  <a:cubicBezTo>
                    <a:pt x="6025" y="1181385"/>
                    <a:pt x="0" y="1166840"/>
                    <a:pt x="0" y="1151674"/>
                  </a:cubicBezTo>
                  <a:lnTo>
                    <a:pt x="0" y="57185"/>
                  </a:lnTo>
                  <a:cubicBezTo>
                    <a:pt x="0" y="42018"/>
                    <a:pt x="6025" y="27473"/>
                    <a:pt x="16749" y="16749"/>
                  </a:cubicBezTo>
                  <a:cubicBezTo>
                    <a:pt x="27473" y="6025"/>
                    <a:pt x="42018" y="0"/>
                    <a:pt x="57185" y="0"/>
                  </a:cubicBezTo>
                  <a:close/>
                </a:path>
              </a:pathLst>
            </a:custGeom>
            <a:solidFill>
              <a:srgbClr val="ECE1D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69703" cy="125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2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658574" y="4267201"/>
            <a:ext cx="3947558" cy="2993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5"/>
              </a:lnSpc>
            </a:pPr>
            <a:r>
              <a:rPr lang="en-US" sz="2461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·      Analyzed 3,900 customer transactions to understand purchasing behavior, customer loyalty, product performance, subscription adoption, and revenue drivers.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288856" y="4140111"/>
            <a:ext cx="3401185" cy="3421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0"/>
              </a:lnSpc>
            </a:pPr>
            <a:r>
              <a:rPr lang="en-US" sz="2157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·     </a:t>
            </a:r>
            <a:r>
              <a:rPr lang="en-US" sz="2157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Identified </a:t>
            </a:r>
          </a:p>
          <a:p>
            <a:pPr algn="ctr">
              <a:lnSpc>
                <a:spcPts val="3020"/>
              </a:lnSpc>
            </a:pPr>
            <a:r>
              <a:rPr lang="en-US" sz="2157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opportunities to improve customer retention, increase subscription adoption, optimize discount strategies, and strengthen product marketing initiatives.</a:t>
            </a:r>
          </a:p>
          <a:p>
            <a:pPr algn="ctr">
              <a:lnSpc>
                <a:spcPts val="3020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-2080684">
            <a:off x="10082077" y="8242051"/>
            <a:ext cx="10960234" cy="7472887"/>
          </a:xfrm>
          <a:custGeom>
            <a:avLst/>
            <a:gdLst/>
            <a:ahLst/>
            <a:cxnLst/>
            <a:rect r="r" b="b" t="t" l="l"/>
            <a:pathLst>
              <a:path h="7472887" w="10960234">
                <a:moveTo>
                  <a:pt x="0" y="0"/>
                </a:moveTo>
                <a:lnTo>
                  <a:pt x="10960235" y="0"/>
                </a:lnTo>
                <a:lnTo>
                  <a:pt x="10960235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9426524">
            <a:off x="-3984660" y="-4765086"/>
            <a:ext cx="9442126" cy="8000056"/>
          </a:xfrm>
          <a:custGeom>
            <a:avLst/>
            <a:gdLst/>
            <a:ahLst/>
            <a:cxnLst/>
            <a:rect r="r" b="b" t="t" l="l"/>
            <a:pathLst>
              <a:path h="8000056" w="944212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2624874">
            <a:off x="-884948" y="9077955"/>
            <a:ext cx="3242701" cy="1827704"/>
          </a:xfrm>
          <a:custGeom>
            <a:avLst/>
            <a:gdLst/>
            <a:ahLst/>
            <a:cxnLst/>
            <a:rect r="r" b="b" t="t" l="l"/>
            <a:pathLst>
              <a:path h="1827704" w="3242701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2830696">
            <a:off x="16075185" y="-1028700"/>
            <a:ext cx="2835471" cy="4114800"/>
          </a:xfrm>
          <a:custGeom>
            <a:avLst/>
            <a:gdLst/>
            <a:ahLst/>
            <a:cxnLst/>
            <a:rect r="r" b="b" t="t" l="l"/>
            <a:pathLst>
              <a:path h="4114800" w="2835471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64475" y="952500"/>
            <a:ext cx="9759051" cy="1490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5"/>
              </a:lnSpc>
            </a:pPr>
            <a:r>
              <a:rPr lang="en-US" b="true" sz="4332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Customer Revenue and Spending Analysis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029259" y="3954531"/>
            <a:ext cx="3499238" cy="3697518"/>
            <a:chOff x="0" y="0"/>
            <a:chExt cx="921610" cy="9738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21610" cy="973832"/>
            </a:xfrm>
            <a:custGeom>
              <a:avLst/>
              <a:gdLst/>
              <a:ahLst/>
              <a:cxnLst/>
              <a:rect r="r" b="b" t="t" l="l"/>
              <a:pathLst>
                <a:path h="973832" w="921610">
                  <a:moveTo>
                    <a:pt x="66374" y="0"/>
                  </a:moveTo>
                  <a:lnTo>
                    <a:pt x="855236" y="0"/>
                  </a:lnTo>
                  <a:cubicBezTo>
                    <a:pt x="891893" y="0"/>
                    <a:pt x="921610" y="29717"/>
                    <a:pt x="921610" y="66374"/>
                  </a:cubicBezTo>
                  <a:lnTo>
                    <a:pt x="921610" y="907458"/>
                  </a:lnTo>
                  <a:cubicBezTo>
                    <a:pt x="921610" y="944115"/>
                    <a:pt x="891893" y="973832"/>
                    <a:pt x="855236" y="973832"/>
                  </a:cubicBezTo>
                  <a:lnTo>
                    <a:pt x="66374" y="973832"/>
                  </a:lnTo>
                  <a:cubicBezTo>
                    <a:pt x="29717" y="973832"/>
                    <a:pt x="0" y="944115"/>
                    <a:pt x="0" y="907458"/>
                  </a:cubicBezTo>
                  <a:lnTo>
                    <a:pt x="0" y="66374"/>
                  </a:lnTo>
                  <a:cubicBezTo>
                    <a:pt x="0" y="29717"/>
                    <a:pt x="29717" y="0"/>
                    <a:pt x="66374" y="0"/>
                  </a:cubicBezTo>
                  <a:close/>
                </a:path>
              </a:pathLst>
            </a:custGeom>
            <a:solidFill>
              <a:srgbClr val="ECE1D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921610" cy="1021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2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029259" y="4495471"/>
            <a:ext cx="3425663" cy="252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2914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·Prioritize marketing investments toward high-revenue demographic segments.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180031" y="3954531"/>
            <a:ext cx="3499238" cy="3697518"/>
            <a:chOff x="0" y="0"/>
            <a:chExt cx="921610" cy="97383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21610" cy="973832"/>
            </a:xfrm>
            <a:custGeom>
              <a:avLst/>
              <a:gdLst/>
              <a:ahLst/>
              <a:cxnLst/>
              <a:rect r="r" b="b" t="t" l="l"/>
              <a:pathLst>
                <a:path h="973832" w="921610">
                  <a:moveTo>
                    <a:pt x="66374" y="0"/>
                  </a:moveTo>
                  <a:lnTo>
                    <a:pt x="855236" y="0"/>
                  </a:lnTo>
                  <a:cubicBezTo>
                    <a:pt x="891893" y="0"/>
                    <a:pt x="921610" y="29717"/>
                    <a:pt x="921610" y="66374"/>
                  </a:cubicBezTo>
                  <a:lnTo>
                    <a:pt x="921610" y="907458"/>
                  </a:lnTo>
                  <a:cubicBezTo>
                    <a:pt x="921610" y="944115"/>
                    <a:pt x="891893" y="973832"/>
                    <a:pt x="855236" y="973832"/>
                  </a:cubicBezTo>
                  <a:lnTo>
                    <a:pt x="66374" y="973832"/>
                  </a:lnTo>
                  <a:cubicBezTo>
                    <a:pt x="29717" y="973832"/>
                    <a:pt x="0" y="944115"/>
                    <a:pt x="0" y="907458"/>
                  </a:cubicBezTo>
                  <a:lnTo>
                    <a:pt x="0" y="66374"/>
                  </a:lnTo>
                  <a:cubicBezTo>
                    <a:pt x="0" y="29717"/>
                    <a:pt x="29717" y="0"/>
                    <a:pt x="66374" y="0"/>
                  </a:cubicBezTo>
                  <a:close/>
                </a:path>
              </a:pathLst>
            </a:custGeom>
            <a:solidFill>
              <a:srgbClr val="ECE1D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921610" cy="1021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2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562900" y="4280357"/>
            <a:ext cx="2733500" cy="2957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2"/>
              </a:lnSpc>
            </a:pPr>
            <a:r>
              <a:rPr lang="en-US" sz="2837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·Develop personalized campaigns for customers exhibiting high purchase value.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784294" y="3954531"/>
            <a:ext cx="3499238" cy="3697518"/>
            <a:chOff x="0" y="0"/>
            <a:chExt cx="921610" cy="9738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21610" cy="973832"/>
            </a:xfrm>
            <a:custGeom>
              <a:avLst/>
              <a:gdLst/>
              <a:ahLst/>
              <a:cxnLst/>
              <a:rect r="r" b="b" t="t" l="l"/>
              <a:pathLst>
                <a:path h="973832" w="921610">
                  <a:moveTo>
                    <a:pt x="66374" y="0"/>
                  </a:moveTo>
                  <a:lnTo>
                    <a:pt x="855236" y="0"/>
                  </a:lnTo>
                  <a:cubicBezTo>
                    <a:pt x="891893" y="0"/>
                    <a:pt x="921610" y="29717"/>
                    <a:pt x="921610" y="66374"/>
                  </a:cubicBezTo>
                  <a:lnTo>
                    <a:pt x="921610" y="907458"/>
                  </a:lnTo>
                  <a:cubicBezTo>
                    <a:pt x="921610" y="944115"/>
                    <a:pt x="891893" y="973832"/>
                    <a:pt x="855236" y="973832"/>
                  </a:cubicBezTo>
                  <a:lnTo>
                    <a:pt x="66374" y="973832"/>
                  </a:lnTo>
                  <a:cubicBezTo>
                    <a:pt x="29717" y="973832"/>
                    <a:pt x="0" y="944115"/>
                    <a:pt x="0" y="907458"/>
                  </a:cubicBezTo>
                  <a:lnTo>
                    <a:pt x="0" y="66374"/>
                  </a:lnTo>
                  <a:cubicBezTo>
                    <a:pt x="0" y="29717"/>
                    <a:pt x="29717" y="0"/>
                    <a:pt x="66374" y="0"/>
                  </a:cubicBezTo>
                  <a:close/>
                </a:path>
              </a:pathLst>
            </a:custGeom>
            <a:solidFill>
              <a:srgbClr val="ECE1D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921610" cy="1021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2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951001" y="4167864"/>
            <a:ext cx="3165824" cy="3484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2"/>
              </a:lnSpc>
            </a:pPr>
            <a:r>
              <a:rPr lang="en-US" sz="3352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·Use specific behavior insights to improve customer lifetime value (CLV).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-2080684">
            <a:off x="10082077" y="8242051"/>
            <a:ext cx="10960234" cy="7472887"/>
          </a:xfrm>
          <a:custGeom>
            <a:avLst/>
            <a:gdLst/>
            <a:ahLst/>
            <a:cxnLst/>
            <a:rect r="r" b="b" t="t" l="l"/>
            <a:pathLst>
              <a:path h="7472887" w="10960234">
                <a:moveTo>
                  <a:pt x="0" y="0"/>
                </a:moveTo>
                <a:lnTo>
                  <a:pt x="10960235" y="0"/>
                </a:lnTo>
                <a:lnTo>
                  <a:pt x="10960235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9426524">
            <a:off x="-3984660" y="-4765086"/>
            <a:ext cx="9442126" cy="8000056"/>
          </a:xfrm>
          <a:custGeom>
            <a:avLst/>
            <a:gdLst/>
            <a:ahLst/>
            <a:cxnLst/>
            <a:rect r="r" b="b" t="t" l="l"/>
            <a:pathLst>
              <a:path h="8000056" w="944212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2624874">
            <a:off x="-884948" y="9077955"/>
            <a:ext cx="3242701" cy="1827704"/>
          </a:xfrm>
          <a:custGeom>
            <a:avLst/>
            <a:gdLst/>
            <a:ahLst/>
            <a:cxnLst/>
            <a:rect r="r" b="b" t="t" l="l"/>
            <a:pathLst>
              <a:path h="1827704" w="3242701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2830696">
            <a:off x="16075185" y="-1028700"/>
            <a:ext cx="2835471" cy="4114800"/>
          </a:xfrm>
          <a:custGeom>
            <a:avLst/>
            <a:gdLst/>
            <a:ahLst/>
            <a:cxnLst/>
            <a:rect r="r" b="b" t="t" l="l"/>
            <a:pathLst>
              <a:path h="4114800" w="2835471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64475" y="952500"/>
            <a:ext cx="9759051" cy="1490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5"/>
              </a:lnSpc>
            </a:pPr>
            <a:r>
              <a:rPr lang="en-US" b="true" sz="4332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Subscription &amp; Customer Retention Analysis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542504" y="3939033"/>
            <a:ext cx="3499238" cy="3697518"/>
            <a:chOff x="0" y="0"/>
            <a:chExt cx="921610" cy="9738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21610" cy="973832"/>
            </a:xfrm>
            <a:custGeom>
              <a:avLst/>
              <a:gdLst/>
              <a:ahLst/>
              <a:cxnLst/>
              <a:rect r="r" b="b" t="t" l="l"/>
              <a:pathLst>
                <a:path h="973832" w="921610">
                  <a:moveTo>
                    <a:pt x="66374" y="0"/>
                  </a:moveTo>
                  <a:lnTo>
                    <a:pt x="855236" y="0"/>
                  </a:lnTo>
                  <a:cubicBezTo>
                    <a:pt x="891893" y="0"/>
                    <a:pt x="921610" y="29717"/>
                    <a:pt x="921610" y="66374"/>
                  </a:cubicBezTo>
                  <a:lnTo>
                    <a:pt x="921610" y="907458"/>
                  </a:lnTo>
                  <a:cubicBezTo>
                    <a:pt x="921610" y="944115"/>
                    <a:pt x="891893" y="973832"/>
                    <a:pt x="855236" y="973832"/>
                  </a:cubicBezTo>
                  <a:lnTo>
                    <a:pt x="66374" y="973832"/>
                  </a:lnTo>
                  <a:cubicBezTo>
                    <a:pt x="29717" y="973832"/>
                    <a:pt x="0" y="944115"/>
                    <a:pt x="0" y="907458"/>
                  </a:cubicBezTo>
                  <a:lnTo>
                    <a:pt x="0" y="66374"/>
                  </a:lnTo>
                  <a:cubicBezTo>
                    <a:pt x="0" y="29717"/>
                    <a:pt x="29717" y="0"/>
                    <a:pt x="66374" y="0"/>
                  </a:cubicBezTo>
                  <a:close/>
                </a:path>
              </a:pathLst>
            </a:custGeom>
            <a:solidFill>
              <a:srgbClr val="ECE1D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921610" cy="1021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2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869631" y="4258674"/>
            <a:ext cx="2539241" cy="3036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2913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Introduce exclusive subscription benefits to increase enrollment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019707" y="3956552"/>
            <a:ext cx="3499238" cy="3697518"/>
            <a:chOff x="0" y="0"/>
            <a:chExt cx="921610" cy="97383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21610" cy="973832"/>
            </a:xfrm>
            <a:custGeom>
              <a:avLst/>
              <a:gdLst/>
              <a:ahLst/>
              <a:cxnLst/>
              <a:rect r="r" b="b" t="t" l="l"/>
              <a:pathLst>
                <a:path h="973832" w="921610">
                  <a:moveTo>
                    <a:pt x="66374" y="0"/>
                  </a:moveTo>
                  <a:lnTo>
                    <a:pt x="855236" y="0"/>
                  </a:lnTo>
                  <a:cubicBezTo>
                    <a:pt x="891893" y="0"/>
                    <a:pt x="921610" y="29717"/>
                    <a:pt x="921610" y="66374"/>
                  </a:cubicBezTo>
                  <a:lnTo>
                    <a:pt x="921610" y="907458"/>
                  </a:lnTo>
                  <a:cubicBezTo>
                    <a:pt x="921610" y="944115"/>
                    <a:pt x="891893" y="973832"/>
                    <a:pt x="855236" y="973832"/>
                  </a:cubicBezTo>
                  <a:lnTo>
                    <a:pt x="66374" y="973832"/>
                  </a:lnTo>
                  <a:cubicBezTo>
                    <a:pt x="29717" y="973832"/>
                    <a:pt x="0" y="944115"/>
                    <a:pt x="0" y="907458"/>
                  </a:cubicBezTo>
                  <a:lnTo>
                    <a:pt x="0" y="66374"/>
                  </a:lnTo>
                  <a:cubicBezTo>
                    <a:pt x="0" y="29717"/>
                    <a:pt x="29717" y="0"/>
                    <a:pt x="66374" y="0"/>
                  </a:cubicBezTo>
                  <a:close/>
                </a:path>
              </a:pathLst>
            </a:custGeom>
            <a:solidFill>
              <a:srgbClr val="ECE1D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921610" cy="1021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2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633396" y="4170406"/>
            <a:ext cx="2271860" cy="3196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</a:pPr>
            <a:r>
              <a:rPr lang="en-US" sz="2302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·Create loyalty rewards programs to convert Returning customers into Loyal customers.</a:t>
            </a:r>
          </a:p>
          <a:p>
            <a:pPr algn="ctr">
              <a:lnSpc>
                <a:spcPts val="3223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12900070" y="3956552"/>
            <a:ext cx="3499238" cy="3697518"/>
            <a:chOff x="0" y="0"/>
            <a:chExt cx="921610" cy="9738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21610" cy="973832"/>
            </a:xfrm>
            <a:custGeom>
              <a:avLst/>
              <a:gdLst/>
              <a:ahLst/>
              <a:cxnLst/>
              <a:rect r="r" b="b" t="t" l="l"/>
              <a:pathLst>
                <a:path h="973832" w="921610">
                  <a:moveTo>
                    <a:pt x="66374" y="0"/>
                  </a:moveTo>
                  <a:lnTo>
                    <a:pt x="855236" y="0"/>
                  </a:lnTo>
                  <a:cubicBezTo>
                    <a:pt x="891893" y="0"/>
                    <a:pt x="921610" y="29717"/>
                    <a:pt x="921610" y="66374"/>
                  </a:cubicBezTo>
                  <a:lnTo>
                    <a:pt x="921610" y="907458"/>
                  </a:lnTo>
                  <a:cubicBezTo>
                    <a:pt x="921610" y="944115"/>
                    <a:pt x="891893" y="973832"/>
                    <a:pt x="855236" y="973832"/>
                  </a:cubicBezTo>
                  <a:lnTo>
                    <a:pt x="66374" y="973832"/>
                  </a:lnTo>
                  <a:cubicBezTo>
                    <a:pt x="29717" y="973832"/>
                    <a:pt x="0" y="944115"/>
                    <a:pt x="0" y="907458"/>
                  </a:cubicBezTo>
                  <a:lnTo>
                    <a:pt x="0" y="66374"/>
                  </a:lnTo>
                  <a:cubicBezTo>
                    <a:pt x="0" y="29717"/>
                    <a:pt x="29717" y="0"/>
                    <a:pt x="66374" y="0"/>
                  </a:cubicBezTo>
                  <a:close/>
                </a:path>
              </a:pathLst>
            </a:custGeom>
            <a:solidFill>
              <a:srgbClr val="ECE1D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921610" cy="1021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2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3128670" y="4160881"/>
            <a:ext cx="3042317" cy="3104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6"/>
              </a:lnSpc>
            </a:pPr>
            <a:r>
              <a:rPr lang="en-US" sz="2990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·Implement retention campaigns targeted at high-frequency purchasers.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-2080684">
            <a:off x="10082077" y="8242051"/>
            <a:ext cx="10960234" cy="7472887"/>
          </a:xfrm>
          <a:custGeom>
            <a:avLst/>
            <a:gdLst/>
            <a:ahLst/>
            <a:cxnLst/>
            <a:rect r="r" b="b" t="t" l="l"/>
            <a:pathLst>
              <a:path h="7472887" w="10960234">
                <a:moveTo>
                  <a:pt x="0" y="0"/>
                </a:moveTo>
                <a:lnTo>
                  <a:pt x="10960235" y="0"/>
                </a:lnTo>
                <a:lnTo>
                  <a:pt x="10960235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9426524">
            <a:off x="-3984660" y="-4765086"/>
            <a:ext cx="9442126" cy="8000056"/>
          </a:xfrm>
          <a:custGeom>
            <a:avLst/>
            <a:gdLst/>
            <a:ahLst/>
            <a:cxnLst/>
            <a:rect r="r" b="b" t="t" l="l"/>
            <a:pathLst>
              <a:path h="8000056" w="944212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2624874">
            <a:off x="-884948" y="9077955"/>
            <a:ext cx="3242701" cy="1827704"/>
          </a:xfrm>
          <a:custGeom>
            <a:avLst/>
            <a:gdLst/>
            <a:ahLst/>
            <a:cxnLst/>
            <a:rect r="r" b="b" t="t" l="l"/>
            <a:pathLst>
              <a:path h="1827704" w="3242701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2830696">
            <a:off x="16075185" y="-1028700"/>
            <a:ext cx="2835471" cy="4114800"/>
          </a:xfrm>
          <a:custGeom>
            <a:avLst/>
            <a:gdLst/>
            <a:ahLst/>
            <a:cxnLst/>
            <a:rect r="r" b="b" t="t" l="l"/>
            <a:pathLst>
              <a:path h="4114800" w="2835471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64475" y="952500"/>
            <a:ext cx="9759051" cy="1490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5"/>
              </a:lnSpc>
            </a:pPr>
            <a:r>
              <a:rPr lang="en-US" b="true" sz="4332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Product Performance &amp; Merchandising Insights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778877" y="3939033"/>
            <a:ext cx="3499238" cy="3697518"/>
            <a:chOff x="0" y="0"/>
            <a:chExt cx="921610" cy="9738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21610" cy="973832"/>
            </a:xfrm>
            <a:custGeom>
              <a:avLst/>
              <a:gdLst/>
              <a:ahLst/>
              <a:cxnLst/>
              <a:rect r="r" b="b" t="t" l="l"/>
              <a:pathLst>
                <a:path h="973832" w="921610">
                  <a:moveTo>
                    <a:pt x="66374" y="0"/>
                  </a:moveTo>
                  <a:lnTo>
                    <a:pt x="855236" y="0"/>
                  </a:lnTo>
                  <a:cubicBezTo>
                    <a:pt x="891893" y="0"/>
                    <a:pt x="921610" y="29717"/>
                    <a:pt x="921610" y="66374"/>
                  </a:cubicBezTo>
                  <a:lnTo>
                    <a:pt x="921610" y="907458"/>
                  </a:lnTo>
                  <a:cubicBezTo>
                    <a:pt x="921610" y="944115"/>
                    <a:pt x="891893" y="973832"/>
                    <a:pt x="855236" y="973832"/>
                  </a:cubicBezTo>
                  <a:lnTo>
                    <a:pt x="66374" y="973832"/>
                  </a:lnTo>
                  <a:cubicBezTo>
                    <a:pt x="29717" y="973832"/>
                    <a:pt x="0" y="944115"/>
                    <a:pt x="0" y="907458"/>
                  </a:cubicBezTo>
                  <a:lnTo>
                    <a:pt x="0" y="66374"/>
                  </a:lnTo>
                  <a:cubicBezTo>
                    <a:pt x="0" y="29717"/>
                    <a:pt x="29717" y="0"/>
                    <a:pt x="66374" y="0"/>
                  </a:cubicBezTo>
                  <a:close/>
                </a:path>
              </a:pathLst>
            </a:custGeom>
            <a:solidFill>
              <a:srgbClr val="ECE1D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921610" cy="1021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2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264475" y="4323521"/>
            <a:ext cx="2590190" cy="291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6"/>
              </a:lnSpc>
            </a:pPr>
            <a:r>
              <a:rPr lang="en-US" sz="2797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Optimize inventory planning based on category-level demand trends.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016714" y="3939033"/>
            <a:ext cx="3499238" cy="3697518"/>
            <a:chOff x="0" y="0"/>
            <a:chExt cx="921610" cy="97383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21610" cy="973832"/>
            </a:xfrm>
            <a:custGeom>
              <a:avLst/>
              <a:gdLst/>
              <a:ahLst/>
              <a:cxnLst/>
              <a:rect r="r" b="b" t="t" l="l"/>
              <a:pathLst>
                <a:path h="973832" w="921610">
                  <a:moveTo>
                    <a:pt x="66374" y="0"/>
                  </a:moveTo>
                  <a:lnTo>
                    <a:pt x="855236" y="0"/>
                  </a:lnTo>
                  <a:cubicBezTo>
                    <a:pt x="891893" y="0"/>
                    <a:pt x="921610" y="29717"/>
                    <a:pt x="921610" y="66374"/>
                  </a:cubicBezTo>
                  <a:lnTo>
                    <a:pt x="921610" y="907458"/>
                  </a:lnTo>
                  <a:cubicBezTo>
                    <a:pt x="921610" y="944115"/>
                    <a:pt x="891893" y="973832"/>
                    <a:pt x="855236" y="973832"/>
                  </a:cubicBezTo>
                  <a:lnTo>
                    <a:pt x="66374" y="973832"/>
                  </a:lnTo>
                  <a:cubicBezTo>
                    <a:pt x="29717" y="973832"/>
                    <a:pt x="0" y="944115"/>
                    <a:pt x="0" y="907458"/>
                  </a:cubicBezTo>
                  <a:lnTo>
                    <a:pt x="0" y="66374"/>
                  </a:lnTo>
                  <a:cubicBezTo>
                    <a:pt x="0" y="29717"/>
                    <a:pt x="29717" y="0"/>
                    <a:pt x="66374" y="0"/>
                  </a:cubicBezTo>
                  <a:close/>
                </a:path>
              </a:pathLst>
            </a:custGeom>
            <a:solidFill>
              <a:srgbClr val="ECE1D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921610" cy="1021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2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636930" y="4259030"/>
            <a:ext cx="2258808" cy="3246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1"/>
              </a:lnSpc>
            </a:pPr>
            <a:r>
              <a:rPr lang="en-US" sz="2672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Use best-selling products as anchor products in promotional campaigns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273906" y="3939033"/>
            <a:ext cx="3499238" cy="3697518"/>
            <a:chOff x="0" y="0"/>
            <a:chExt cx="921610" cy="9738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21610" cy="973832"/>
            </a:xfrm>
            <a:custGeom>
              <a:avLst/>
              <a:gdLst/>
              <a:ahLst/>
              <a:cxnLst/>
              <a:rect r="r" b="b" t="t" l="l"/>
              <a:pathLst>
                <a:path h="973832" w="921610">
                  <a:moveTo>
                    <a:pt x="66374" y="0"/>
                  </a:moveTo>
                  <a:lnTo>
                    <a:pt x="855236" y="0"/>
                  </a:lnTo>
                  <a:cubicBezTo>
                    <a:pt x="891893" y="0"/>
                    <a:pt x="921610" y="29717"/>
                    <a:pt x="921610" y="66374"/>
                  </a:cubicBezTo>
                  <a:lnTo>
                    <a:pt x="921610" y="907458"/>
                  </a:lnTo>
                  <a:cubicBezTo>
                    <a:pt x="921610" y="944115"/>
                    <a:pt x="891893" y="973832"/>
                    <a:pt x="855236" y="973832"/>
                  </a:cubicBezTo>
                  <a:lnTo>
                    <a:pt x="66374" y="973832"/>
                  </a:lnTo>
                  <a:cubicBezTo>
                    <a:pt x="29717" y="973832"/>
                    <a:pt x="0" y="944115"/>
                    <a:pt x="0" y="907458"/>
                  </a:cubicBezTo>
                  <a:lnTo>
                    <a:pt x="0" y="66374"/>
                  </a:lnTo>
                  <a:cubicBezTo>
                    <a:pt x="0" y="29717"/>
                    <a:pt x="29717" y="0"/>
                    <a:pt x="66374" y="0"/>
                  </a:cubicBezTo>
                  <a:close/>
                </a:path>
              </a:pathLst>
            </a:custGeom>
            <a:solidFill>
              <a:srgbClr val="ECE1D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921610" cy="1021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2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680015" y="4389578"/>
            <a:ext cx="2680127" cy="2280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8"/>
              </a:lnSpc>
            </a:pPr>
            <a:r>
              <a:rPr lang="en-US" sz="2634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·Increase visibility of top-rated and frequently purchased products.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-2080684">
            <a:off x="10082077" y="8242051"/>
            <a:ext cx="10960234" cy="7472887"/>
          </a:xfrm>
          <a:custGeom>
            <a:avLst/>
            <a:gdLst/>
            <a:ahLst/>
            <a:cxnLst/>
            <a:rect r="r" b="b" t="t" l="l"/>
            <a:pathLst>
              <a:path h="7472887" w="10960234">
                <a:moveTo>
                  <a:pt x="0" y="0"/>
                </a:moveTo>
                <a:lnTo>
                  <a:pt x="10960235" y="0"/>
                </a:lnTo>
                <a:lnTo>
                  <a:pt x="10960235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9426524">
            <a:off x="-3984660" y="-4765086"/>
            <a:ext cx="9442126" cy="8000056"/>
          </a:xfrm>
          <a:custGeom>
            <a:avLst/>
            <a:gdLst/>
            <a:ahLst/>
            <a:cxnLst/>
            <a:rect r="r" b="b" t="t" l="l"/>
            <a:pathLst>
              <a:path h="8000056" w="944212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2624874">
            <a:off x="-884948" y="9077955"/>
            <a:ext cx="3242701" cy="1827704"/>
          </a:xfrm>
          <a:custGeom>
            <a:avLst/>
            <a:gdLst/>
            <a:ahLst/>
            <a:cxnLst/>
            <a:rect r="r" b="b" t="t" l="l"/>
            <a:pathLst>
              <a:path h="1827704" w="3242701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2830696">
            <a:off x="16075185" y="-1028700"/>
            <a:ext cx="2835471" cy="4114800"/>
          </a:xfrm>
          <a:custGeom>
            <a:avLst/>
            <a:gdLst/>
            <a:ahLst/>
            <a:cxnLst/>
            <a:rect r="r" b="b" t="t" l="l"/>
            <a:pathLst>
              <a:path h="4114800" w="2835471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64475" y="952500"/>
            <a:ext cx="9759051" cy="728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5"/>
              </a:lnSpc>
            </a:pPr>
            <a:r>
              <a:rPr lang="en-US" b="true" sz="4332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Discount Effectiveness Analysis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778877" y="3939033"/>
            <a:ext cx="3499238" cy="3697518"/>
            <a:chOff x="0" y="0"/>
            <a:chExt cx="921610" cy="9738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21610" cy="973832"/>
            </a:xfrm>
            <a:custGeom>
              <a:avLst/>
              <a:gdLst/>
              <a:ahLst/>
              <a:cxnLst/>
              <a:rect r="r" b="b" t="t" l="l"/>
              <a:pathLst>
                <a:path h="973832" w="921610">
                  <a:moveTo>
                    <a:pt x="66374" y="0"/>
                  </a:moveTo>
                  <a:lnTo>
                    <a:pt x="855236" y="0"/>
                  </a:lnTo>
                  <a:cubicBezTo>
                    <a:pt x="891893" y="0"/>
                    <a:pt x="921610" y="29717"/>
                    <a:pt x="921610" y="66374"/>
                  </a:cubicBezTo>
                  <a:lnTo>
                    <a:pt x="921610" y="907458"/>
                  </a:lnTo>
                  <a:cubicBezTo>
                    <a:pt x="921610" y="944115"/>
                    <a:pt x="891893" y="973832"/>
                    <a:pt x="855236" y="973832"/>
                  </a:cubicBezTo>
                  <a:lnTo>
                    <a:pt x="66374" y="973832"/>
                  </a:lnTo>
                  <a:cubicBezTo>
                    <a:pt x="29717" y="973832"/>
                    <a:pt x="0" y="944115"/>
                    <a:pt x="0" y="907458"/>
                  </a:cubicBezTo>
                  <a:lnTo>
                    <a:pt x="0" y="66374"/>
                  </a:lnTo>
                  <a:cubicBezTo>
                    <a:pt x="0" y="29717"/>
                    <a:pt x="29717" y="0"/>
                    <a:pt x="66374" y="0"/>
                  </a:cubicBezTo>
                  <a:close/>
                </a:path>
              </a:pathLst>
            </a:custGeom>
            <a:solidFill>
              <a:srgbClr val="ECE1D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921610" cy="1021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2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264475" y="4323521"/>
            <a:ext cx="2590190" cy="291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6"/>
              </a:lnSpc>
            </a:pPr>
            <a:r>
              <a:rPr lang="en-US" sz="2797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·Reduce blanket discounting and adopt targeted promotional strategies.</a:t>
            </a:r>
          </a:p>
          <a:p>
            <a:pPr algn="ctr">
              <a:lnSpc>
                <a:spcPts val="3916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8016714" y="3939033"/>
            <a:ext cx="3499238" cy="3697518"/>
            <a:chOff x="0" y="0"/>
            <a:chExt cx="921610" cy="97383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21610" cy="973832"/>
            </a:xfrm>
            <a:custGeom>
              <a:avLst/>
              <a:gdLst/>
              <a:ahLst/>
              <a:cxnLst/>
              <a:rect r="r" b="b" t="t" l="l"/>
              <a:pathLst>
                <a:path h="973832" w="921610">
                  <a:moveTo>
                    <a:pt x="66374" y="0"/>
                  </a:moveTo>
                  <a:lnTo>
                    <a:pt x="855236" y="0"/>
                  </a:lnTo>
                  <a:cubicBezTo>
                    <a:pt x="891893" y="0"/>
                    <a:pt x="921610" y="29717"/>
                    <a:pt x="921610" y="66374"/>
                  </a:cubicBezTo>
                  <a:lnTo>
                    <a:pt x="921610" y="907458"/>
                  </a:lnTo>
                  <a:cubicBezTo>
                    <a:pt x="921610" y="944115"/>
                    <a:pt x="891893" y="973832"/>
                    <a:pt x="855236" y="973832"/>
                  </a:cubicBezTo>
                  <a:lnTo>
                    <a:pt x="66374" y="973832"/>
                  </a:lnTo>
                  <a:cubicBezTo>
                    <a:pt x="29717" y="973832"/>
                    <a:pt x="0" y="944115"/>
                    <a:pt x="0" y="907458"/>
                  </a:cubicBezTo>
                  <a:lnTo>
                    <a:pt x="0" y="66374"/>
                  </a:lnTo>
                  <a:cubicBezTo>
                    <a:pt x="0" y="29717"/>
                    <a:pt x="29717" y="0"/>
                    <a:pt x="66374" y="0"/>
                  </a:cubicBezTo>
                  <a:close/>
                </a:path>
              </a:pathLst>
            </a:custGeom>
            <a:solidFill>
              <a:srgbClr val="ECE1D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921610" cy="1021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2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336499" y="4333046"/>
            <a:ext cx="2879023" cy="2780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1"/>
              </a:lnSpc>
            </a:pPr>
            <a:r>
              <a:rPr lang="en-US" sz="2672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·Focus discounts on price-sensitive products while protecting margins on high-demand products.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273906" y="3939033"/>
            <a:ext cx="3499238" cy="3697518"/>
            <a:chOff x="0" y="0"/>
            <a:chExt cx="921610" cy="9738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21610" cy="973832"/>
            </a:xfrm>
            <a:custGeom>
              <a:avLst/>
              <a:gdLst/>
              <a:ahLst/>
              <a:cxnLst/>
              <a:rect r="r" b="b" t="t" l="l"/>
              <a:pathLst>
                <a:path h="973832" w="921610">
                  <a:moveTo>
                    <a:pt x="66374" y="0"/>
                  </a:moveTo>
                  <a:lnTo>
                    <a:pt x="855236" y="0"/>
                  </a:lnTo>
                  <a:cubicBezTo>
                    <a:pt x="891893" y="0"/>
                    <a:pt x="921610" y="29717"/>
                    <a:pt x="921610" y="66374"/>
                  </a:cubicBezTo>
                  <a:lnTo>
                    <a:pt x="921610" y="907458"/>
                  </a:lnTo>
                  <a:cubicBezTo>
                    <a:pt x="921610" y="944115"/>
                    <a:pt x="891893" y="973832"/>
                    <a:pt x="855236" y="973832"/>
                  </a:cubicBezTo>
                  <a:lnTo>
                    <a:pt x="66374" y="973832"/>
                  </a:lnTo>
                  <a:cubicBezTo>
                    <a:pt x="29717" y="973832"/>
                    <a:pt x="0" y="944115"/>
                    <a:pt x="0" y="907458"/>
                  </a:cubicBezTo>
                  <a:lnTo>
                    <a:pt x="0" y="66374"/>
                  </a:lnTo>
                  <a:cubicBezTo>
                    <a:pt x="0" y="29717"/>
                    <a:pt x="29717" y="0"/>
                    <a:pt x="66374" y="0"/>
                  </a:cubicBezTo>
                  <a:close/>
                </a:path>
              </a:pathLst>
            </a:custGeom>
            <a:solidFill>
              <a:srgbClr val="ECE1D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921610" cy="1021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2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680015" y="4389578"/>
            <a:ext cx="2680127" cy="2740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8"/>
              </a:lnSpc>
            </a:pPr>
            <a:r>
              <a:rPr lang="en-US" sz="2634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·Monitor profitability of heavily discounted products to avoid revenue leakage.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-2080684">
            <a:off x="10082077" y="8242051"/>
            <a:ext cx="10960234" cy="7472887"/>
          </a:xfrm>
          <a:custGeom>
            <a:avLst/>
            <a:gdLst/>
            <a:ahLst/>
            <a:cxnLst/>
            <a:rect r="r" b="b" t="t" l="l"/>
            <a:pathLst>
              <a:path h="7472887" w="10960234">
                <a:moveTo>
                  <a:pt x="0" y="0"/>
                </a:moveTo>
                <a:lnTo>
                  <a:pt x="10960235" y="0"/>
                </a:lnTo>
                <a:lnTo>
                  <a:pt x="10960235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9426524">
            <a:off x="-3984660" y="-4765086"/>
            <a:ext cx="9442126" cy="8000056"/>
          </a:xfrm>
          <a:custGeom>
            <a:avLst/>
            <a:gdLst/>
            <a:ahLst/>
            <a:cxnLst/>
            <a:rect r="r" b="b" t="t" l="l"/>
            <a:pathLst>
              <a:path h="8000056" w="944212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2624874">
            <a:off x="-884948" y="9077955"/>
            <a:ext cx="3242701" cy="1827704"/>
          </a:xfrm>
          <a:custGeom>
            <a:avLst/>
            <a:gdLst/>
            <a:ahLst/>
            <a:cxnLst/>
            <a:rect r="r" b="b" t="t" l="l"/>
            <a:pathLst>
              <a:path h="1827704" w="3242701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2830696">
            <a:off x="16075185" y="-1028700"/>
            <a:ext cx="2835471" cy="4114800"/>
          </a:xfrm>
          <a:custGeom>
            <a:avLst/>
            <a:gdLst/>
            <a:ahLst/>
            <a:cxnLst/>
            <a:rect r="r" b="b" t="t" l="l"/>
            <a:pathLst>
              <a:path h="4114800" w="2835471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64475" y="952500"/>
            <a:ext cx="9759051" cy="728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5"/>
              </a:lnSpc>
            </a:pPr>
            <a:r>
              <a:rPr lang="en-US" b="true" sz="4332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Operational &amp; Shipping Insights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778877" y="3939033"/>
            <a:ext cx="3499238" cy="3697518"/>
            <a:chOff x="0" y="0"/>
            <a:chExt cx="921610" cy="9738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21610" cy="973832"/>
            </a:xfrm>
            <a:custGeom>
              <a:avLst/>
              <a:gdLst/>
              <a:ahLst/>
              <a:cxnLst/>
              <a:rect r="r" b="b" t="t" l="l"/>
              <a:pathLst>
                <a:path h="973832" w="921610">
                  <a:moveTo>
                    <a:pt x="66374" y="0"/>
                  </a:moveTo>
                  <a:lnTo>
                    <a:pt x="855236" y="0"/>
                  </a:lnTo>
                  <a:cubicBezTo>
                    <a:pt x="891893" y="0"/>
                    <a:pt x="921610" y="29717"/>
                    <a:pt x="921610" y="66374"/>
                  </a:cubicBezTo>
                  <a:lnTo>
                    <a:pt x="921610" y="907458"/>
                  </a:lnTo>
                  <a:cubicBezTo>
                    <a:pt x="921610" y="944115"/>
                    <a:pt x="891893" y="973832"/>
                    <a:pt x="855236" y="973832"/>
                  </a:cubicBezTo>
                  <a:lnTo>
                    <a:pt x="66374" y="973832"/>
                  </a:lnTo>
                  <a:cubicBezTo>
                    <a:pt x="29717" y="973832"/>
                    <a:pt x="0" y="944115"/>
                    <a:pt x="0" y="907458"/>
                  </a:cubicBezTo>
                  <a:lnTo>
                    <a:pt x="0" y="66374"/>
                  </a:lnTo>
                  <a:cubicBezTo>
                    <a:pt x="0" y="29717"/>
                    <a:pt x="29717" y="0"/>
                    <a:pt x="66374" y="0"/>
                  </a:cubicBezTo>
                  <a:close/>
                </a:path>
              </a:pathLst>
            </a:custGeom>
            <a:solidFill>
              <a:srgbClr val="ECE1D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921610" cy="1021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2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264475" y="4323521"/>
            <a:ext cx="2590190" cy="2428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6"/>
              </a:lnSpc>
            </a:pPr>
            <a:r>
              <a:rPr lang="en-US" sz="2797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·Promote premium shipping options to high-value customers.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016714" y="3939033"/>
            <a:ext cx="3499238" cy="3697518"/>
            <a:chOff x="0" y="0"/>
            <a:chExt cx="921610" cy="97383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21610" cy="973832"/>
            </a:xfrm>
            <a:custGeom>
              <a:avLst/>
              <a:gdLst/>
              <a:ahLst/>
              <a:cxnLst/>
              <a:rect r="r" b="b" t="t" l="l"/>
              <a:pathLst>
                <a:path h="973832" w="921610">
                  <a:moveTo>
                    <a:pt x="66374" y="0"/>
                  </a:moveTo>
                  <a:lnTo>
                    <a:pt x="855236" y="0"/>
                  </a:lnTo>
                  <a:cubicBezTo>
                    <a:pt x="891893" y="0"/>
                    <a:pt x="921610" y="29717"/>
                    <a:pt x="921610" y="66374"/>
                  </a:cubicBezTo>
                  <a:lnTo>
                    <a:pt x="921610" y="907458"/>
                  </a:lnTo>
                  <a:cubicBezTo>
                    <a:pt x="921610" y="944115"/>
                    <a:pt x="891893" y="973832"/>
                    <a:pt x="855236" y="973832"/>
                  </a:cubicBezTo>
                  <a:lnTo>
                    <a:pt x="66374" y="973832"/>
                  </a:lnTo>
                  <a:cubicBezTo>
                    <a:pt x="29717" y="973832"/>
                    <a:pt x="0" y="944115"/>
                    <a:pt x="0" y="907458"/>
                  </a:cubicBezTo>
                  <a:lnTo>
                    <a:pt x="0" y="66374"/>
                  </a:lnTo>
                  <a:cubicBezTo>
                    <a:pt x="0" y="29717"/>
                    <a:pt x="29717" y="0"/>
                    <a:pt x="66374" y="0"/>
                  </a:cubicBezTo>
                  <a:close/>
                </a:path>
              </a:pathLst>
            </a:custGeom>
            <a:solidFill>
              <a:srgbClr val="ECE1D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921610" cy="1021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2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326822" y="4140493"/>
            <a:ext cx="2879023" cy="3246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1"/>
              </a:lnSpc>
            </a:pPr>
            <a:r>
              <a:rPr lang="en-US" sz="2672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·Bundle shipping benefits with subscription programs to improve customer experience and retention.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273906" y="3939033"/>
            <a:ext cx="3499238" cy="3697518"/>
            <a:chOff x="0" y="0"/>
            <a:chExt cx="921610" cy="9738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21610" cy="973832"/>
            </a:xfrm>
            <a:custGeom>
              <a:avLst/>
              <a:gdLst/>
              <a:ahLst/>
              <a:cxnLst/>
              <a:rect r="r" b="b" t="t" l="l"/>
              <a:pathLst>
                <a:path h="973832" w="921610">
                  <a:moveTo>
                    <a:pt x="66374" y="0"/>
                  </a:moveTo>
                  <a:lnTo>
                    <a:pt x="855236" y="0"/>
                  </a:lnTo>
                  <a:cubicBezTo>
                    <a:pt x="891893" y="0"/>
                    <a:pt x="921610" y="29717"/>
                    <a:pt x="921610" y="66374"/>
                  </a:cubicBezTo>
                  <a:lnTo>
                    <a:pt x="921610" y="907458"/>
                  </a:lnTo>
                  <a:cubicBezTo>
                    <a:pt x="921610" y="944115"/>
                    <a:pt x="891893" y="973832"/>
                    <a:pt x="855236" y="973832"/>
                  </a:cubicBezTo>
                  <a:lnTo>
                    <a:pt x="66374" y="973832"/>
                  </a:lnTo>
                  <a:cubicBezTo>
                    <a:pt x="29717" y="973832"/>
                    <a:pt x="0" y="944115"/>
                    <a:pt x="0" y="907458"/>
                  </a:cubicBezTo>
                  <a:lnTo>
                    <a:pt x="0" y="66374"/>
                  </a:lnTo>
                  <a:cubicBezTo>
                    <a:pt x="0" y="29717"/>
                    <a:pt x="29717" y="0"/>
                    <a:pt x="66374" y="0"/>
                  </a:cubicBezTo>
                  <a:close/>
                </a:path>
              </a:pathLst>
            </a:custGeom>
            <a:solidFill>
              <a:srgbClr val="ECE1D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921610" cy="1021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2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563702" y="4140493"/>
            <a:ext cx="2680127" cy="3201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8"/>
              </a:lnSpc>
            </a:pPr>
            <a:r>
              <a:rPr lang="en-US" sz="2634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·Leverage shipping preferences for customer segmentation and personalized offers.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-2080684">
            <a:off x="10082077" y="8242051"/>
            <a:ext cx="10960234" cy="7472887"/>
          </a:xfrm>
          <a:custGeom>
            <a:avLst/>
            <a:gdLst/>
            <a:ahLst/>
            <a:cxnLst/>
            <a:rect r="r" b="b" t="t" l="l"/>
            <a:pathLst>
              <a:path h="7472887" w="10960234">
                <a:moveTo>
                  <a:pt x="0" y="0"/>
                </a:moveTo>
                <a:lnTo>
                  <a:pt x="10960235" y="0"/>
                </a:lnTo>
                <a:lnTo>
                  <a:pt x="10960235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9426524">
            <a:off x="-3984660" y="-4765086"/>
            <a:ext cx="9442126" cy="8000056"/>
          </a:xfrm>
          <a:custGeom>
            <a:avLst/>
            <a:gdLst/>
            <a:ahLst/>
            <a:cxnLst/>
            <a:rect r="r" b="b" t="t" l="l"/>
            <a:pathLst>
              <a:path h="8000056" w="944212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2624874">
            <a:off x="-884948" y="9077955"/>
            <a:ext cx="3242701" cy="1827704"/>
          </a:xfrm>
          <a:custGeom>
            <a:avLst/>
            <a:gdLst/>
            <a:ahLst/>
            <a:cxnLst/>
            <a:rect r="r" b="b" t="t" l="l"/>
            <a:pathLst>
              <a:path h="1827704" w="3242701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2830696">
            <a:off x="16075185" y="-1028700"/>
            <a:ext cx="2835471" cy="4114800"/>
          </a:xfrm>
          <a:custGeom>
            <a:avLst/>
            <a:gdLst/>
            <a:ahLst/>
            <a:cxnLst/>
            <a:rect r="r" b="b" t="t" l="l"/>
            <a:pathLst>
              <a:path h="4114800" w="2835471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36369" y="2666946"/>
            <a:ext cx="1381570" cy="1381570"/>
          </a:xfrm>
          <a:custGeom>
            <a:avLst/>
            <a:gdLst/>
            <a:ahLst/>
            <a:cxnLst/>
            <a:rect r="r" b="b" t="t" l="l"/>
            <a:pathLst>
              <a:path h="1381570" w="1381570">
                <a:moveTo>
                  <a:pt x="0" y="0"/>
                </a:moveTo>
                <a:lnTo>
                  <a:pt x="1381570" y="0"/>
                </a:lnTo>
                <a:lnTo>
                  <a:pt x="1381570" y="1381570"/>
                </a:lnTo>
                <a:lnTo>
                  <a:pt x="0" y="1381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95170" y="4087625"/>
            <a:ext cx="1381570" cy="1381570"/>
          </a:xfrm>
          <a:custGeom>
            <a:avLst/>
            <a:gdLst/>
            <a:ahLst/>
            <a:cxnLst/>
            <a:rect r="r" b="b" t="t" l="l"/>
            <a:pathLst>
              <a:path h="1381570" w="1381570">
                <a:moveTo>
                  <a:pt x="0" y="0"/>
                </a:moveTo>
                <a:lnTo>
                  <a:pt x="1381570" y="0"/>
                </a:lnTo>
                <a:lnTo>
                  <a:pt x="1381570" y="1381570"/>
                </a:lnTo>
                <a:lnTo>
                  <a:pt x="0" y="1381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66298" y="5707320"/>
            <a:ext cx="1381570" cy="1381570"/>
          </a:xfrm>
          <a:custGeom>
            <a:avLst/>
            <a:gdLst/>
            <a:ahLst/>
            <a:cxnLst/>
            <a:rect r="r" b="b" t="t" l="l"/>
            <a:pathLst>
              <a:path h="1381570" w="1381570">
                <a:moveTo>
                  <a:pt x="0" y="0"/>
                </a:moveTo>
                <a:lnTo>
                  <a:pt x="1381571" y="0"/>
                </a:lnTo>
                <a:lnTo>
                  <a:pt x="1381571" y="1381570"/>
                </a:lnTo>
                <a:lnTo>
                  <a:pt x="0" y="1381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847241" y="2666946"/>
            <a:ext cx="1029499" cy="102949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2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707497" y="4215717"/>
            <a:ext cx="1029499" cy="102949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2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707497" y="5560357"/>
            <a:ext cx="1029499" cy="102949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2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28700" y="3366111"/>
            <a:ext cx="4899276" cy="3623338"/>
          </a:xfrm>
          <a:custGeom>
            <a:avLst/>
            <a:gdLst/>
            <a:ahLst/>
            <a:cxnLst/>
            <a:rect r="r" b="b" t="t" l="l"/>
            <a:pathLst>
              <a:path h="3623338" w="4899276">
                <a:moveTo>
                  <a:pt x="0" y="0"/>
                </a:moveTo>
                <a:lnTo>
                  <a:pt x="4899276" y="0"/>
                </a:lnTo>
                <a:lnTo>
                  <a:pt x="4899276" y="3623338"/>
                </a:lnTo>
                <a:lnTo>
                  <a:pt x="0" y="36233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017939" y="2993155"/>
            <a:ext cx="5936813" cy="432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b="true" sz="2799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Increase Subscription Adoption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017939" y="5697795"/>
            <a:ext cx="7748151" cy="432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b="true" sz="2799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Optimize Discount Policies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251746" y="6979924"/>
            <a:ext cx="5936813" cy="432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b="true" sz="2799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Improve Product Marketing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777171" y="2928698"/>
            <a:ext cx="959825" cy="496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0"/>
              </a:lnSpc>
            </a:pPr>
            <a:r>
              <a:rPr lang="en-US" b="true" sz="3199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77171" y="4477469"/>
            <a:ext cx="959825" cy="496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0"/>
              </a:lnSpc>
            </a:pPr>
            <a:r>
              <a:rPr lang="en-US" b="true" sz="3199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77171" y="5779748"/>
            <a:ext cx="959825" cy="496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0"/>
              </a:lnSpc>
            </a:pPr>
            <a:r>
              <a:rPr lang="en-US" b="true" sz="3199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01135" y="626238"/>
            <a:ext cx="8592377" cy="1798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13"/>
              </a:lnSpc>
            </a:pPr>
            <a:r>
              <a:rPr lang="en-US" b="true" sz="5718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Strategic Recommendations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1026841">
            <a:off x="13266207" y="-2293406"/>
            <a:ext cx="6727323" cy="4586811"/>
          </a:xfrm>
          <a:custGeom>
            <a:avLst/>
            <a:gdLst/>
            <a:ahLst/>
            <a:cxnLst/>
            <a:rect r="r" b="b" t="t" l="l"/>
            <a:pathLst>
              <a:path h="4586811" w="6727323">
                <a:moveTo>
                  <a:pt x="0" y="0"/>
                </a:moveTo>
                <a:lnTo>
                  <a:pt x="6727323" y="0"/>
                </a:lnTo>
                <a:lnTo>
                  <a:pt x="6727323" y="4586812"/>
                </a:lnTo>
                <a:lnTo>
                  <a:pt x="0" y="45868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635325">
            <a:off x="-1442576" y="8071855"/>
            <a:ext cx="7907020" cy="6699403"/>
          </a:xfrm>
          <a:custGeom>
            <a:avLst/>
            <a:gdLst/>
            <a:ahLst/>
            <a:cxnLst/>
            <a:rect r="r" b="b" t="t" l="l"/>
            <a:pathLst>
              <a:path h="6699403" w="7907020">
                <a:moveTo>
                  <a:pt x="0" y="0"/>
                </a:moveTo>
                <a:lnTo>
                  <a:pt x="7907020" y="0"/>
                </a:lnTo>
                <a:lnTo>
                  <a:pt x="7907020" y="6699403"/>
                </a:lnTo>
                <a:lnTo>
                  <a:pt x="0" y="66994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-226878">
            <a:off x="-267547" y="148087"/>
            <a:ext cx="4576141" cy="2579280"/>
          </a:xfrm>
          <a:custGeom>
            <a:avLst/>
            <a:gdLst/>
            <a:ahLst/>
            <a:cxnLst/>
            <a:rect r="r" b="b" t="t" l="l"/>
            <a:pathLst>
              <a:path h="2579280" w="4576141">
                <a:moveTo>
                  <a:pt x="0" y="0"/>
                </a:moveTo>
                <a:lnTo>
                  <a:pt x="4576141" y="0"/>
                </a:lnTo>
                <a:lnTo>
                  <a:pt x="4576141" y="2579280"/>
                </a:lnTo>
                <a:lnTo>
                  <a:pt x="0" y="25792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2830696">
            <a:off x="14939466" y="8144946"/>
            <a:ext cx="2835471" cy="4114800"/>
          </a:xfrm>
          <a:custGeom>
            <a:avLst/>
            <a:gdLst/>
            <a:ahLst/>
            <a:cxnLst/>
            <a:rect r="r" b="b" t="t" l="l"/>
            <a:pathLst>
              <a:path h="4114800" w="2835471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8251746" y="4509689"/>
            <a:ext cx="5936813" cy="432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b="true" sz="2799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Strengthen Customer Loyalty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6495170" y="8114654"/>
            <a:ext cx="1381570" cy="1381570"/>
          </a:xfrm>
          <a:custGeom>
            <a:avLst/>
            <a:gdLst/>
            <a:ahLst/>
            <a:cxnLst/>
            <a:rect r="r" b="b" t="t" l="l"/>
            <a:pathLst>
              <a:path h="1381570" w="1381570">
                <a:moveTo>
                  <a:pt x="0" y="0"/>
                </a:moveTo>
                <a:lnTo>
                  <a:pt x="1381570" y="0"/>
                </a:lnTo>
                <a:lnTo>
                  <a:pt x="1381570" y="1381571"/>
                </a:lnTo>
                <a:lnTo>
                  <a:pt x="0" y="13815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6742334" y="7932527"/>
            <a:ext cx="1029499" cy="1029499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2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6601135" y="6964223"/>
            <a:ext cx="1381570" cy="1381570"/>
          </a:xfrm>
          <a:custGeom>
            <a:avLst/>
            <a:gdLst/>
            <a:ahLst/>
            <a:cxnLst/>
            <a:rect r="r" b="b" t="t" l="l"/>
            <a:pathLst>
              <a:path h="1381570" w="1381570">
                <a:moveTo>
                  <a:pt x="0" y="0"/>
                </a:moveTo>
                <a:lnTo>
                  <a:pt x="1381570" y="0"/>
                </a:lnTo>
                <a:lnTo>
                  <a:pt x="1381570" y="1381570"/>
                </a:lnTo>
                <a:lnTo>
                  <a:pt x="0" y="1381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6742334" y="6761306"/>
            <a:ext cx="1029499" cy="1029499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2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6742334" y="6979924"/>
            <a:ext cx="959825" cy="496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0"/>
              </a:lnSpc>
            </a:pPr>
            <a:r>
              <a:rPr lang="en-US" b="true" sz="3199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04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812008" y="8219429"/>
            <a:ext cx="959825" cy="496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0"/>
              </a:lnSpc>
            </a:pPr>
            <a:r>
              <a:rPr lang="en-US" b="true" sz="3199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05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982705" y="8283869"/>
            <a:ext cx="5936813" cy="432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b="true" sz="2799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Focus on High-Value Segments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DAHMX_qSZIM</dc:identifier>
  <dcterms:modified xsi:type="dcterms:W3CDTF">2011-08-01T06:04:30Z</dcterms:modified>
  <cp:revision>1</cp:revision>
  <dc:title>Customer Behavior</dc:title>
</cp:coreProperties>
</file>